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66" r:id="rId5"/>
    <p:sldId id="475" r:id="rId6"/>
    <p:sldId id="476" r:id="rId7"/>
    <p:sldId id="490" r:id="rId8"/>
    <p:sldId id="485" r:id="rId9"/>
    <p:sldId id="491" r:id="rId10"/>
    <p:sldId id="478" r:id="rId11"/>
    <p:sldId id="479" r:id="rId12"/>
    <p:sldId id="493" r:id="rId13"/>
    <p:sldId id="494" r:id="rId14"/>
    <p:sldId id="477" r:id="rId15"/>
    <p:sldId id="492" r:id="rId16"/>
    <p:sldId id="496" r:id="rId17"/>
    <p:sldId id="497" r:id="rId18"/>
    <p:sldId id="488" r:id="rId19"/>
    <p:sldId id="498" r:id="rId20"/>
    <p:sldId id="499" r:id="rId21"/>
    <p:sldId id="500" r:id="rId22"/>
    <p:sldId id="482" r:id="rId23"/>
    <p:sldId id="501" r:id="rId24"/>
    <p:sldId id="329" r:id="rId25"/>
  </p:sldIdLst>
  <p:sldSz cx="164592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3FF"/>
    <a:srgbClr val="0000FF"/>
    <a:srgbClr val="FC6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902" autoAdjust="0"/>
  </p:normalViewPr>
  <p:slideViewPr>
    <p:cSldViewPr snapToGrid="0">
      <p:cViewPr varScale="1">
        <p:scale>
          <a:sx n="69" d="100"/>
          <a:sy n="69" d="100"/>
        </p:scale>
        <p:origin x="283" y="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276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59C53-1F47-4EC3-BD04-DCF7D9853FE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66561-935E-43F2-AA27-F6429D640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798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753D4-FC42-4AF9-9F67-FF67B8A220E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D5281-AB0E-4AE5-96D1-620E2E6C6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462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1pPr>
    <a:lvl2pPr marL="592531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2pPr>
    <a:lvl3pPr marL="1185062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3pPr>
    <a:lvl4pPr marL="1777594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4pPr>
    <a:lvl5pPr marL="2370125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5pPr>
    <a:lvl6pPr marL="2962656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6pPr>
    <a:lvl7pPr marL="3555187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7pPr>
    <a:lvl8pPr marL="4147718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8pPr>
    <a:lvl9pPr marL="4740250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346836"/>
            <a:ext cx="123444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4322446"/>
            <a:ext cx="123444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521" y="7950630"/>
            <a:ext cx="3703320" cy="2789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C7E231E-CA56-4BC7-92DB-F0B5D1EFC190}" type="datetime3">
              <a:rPr lang="en-US" smtClean="0"/>
              <a:t>5 January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52110" y="7950630"/>
            <a:ext cx="5554980" cy="267212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Course Teacher: Prof. Dr. Engr. </a:t>
            </a:r>
            <a:r>
              <a:rPr lang="en-US" dirty="0" err="1"/>
              <a:t>Muhibul</a:t>
            </a:r>
            <a:r>
              <a:rPr lang="en-US" dirty="0"/>
              <a:t> </a:t>
            </a:r>
            <a:r>
              <a:rPr lang="en-US" dirty="0" err="1"/>
              <a:t>Haque</a:t>
            </a:r>
            <a:r>
              <a:rPr lang="en-US" dirty="0"/>
              <a:t> </a:t>
            </a:r>
            <a:r>
              <a:rPr lang="en-US" dirty="0" err="1"/>
              <a:t>Bhuyan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401799" y="7950630"/>
            <a:ext cx="2031381" cy="2789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" y="11981"/>
            <a:ext cx="1415536" cy="133485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426059" y="10898"/>
            <a:ext cx="1500712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AMERICAN INTERNATIONAL UNIVERSITY-BANGLADESH (AIUB)</a:t>
            </a:r>
          </a:p>
          <a:p>
            <a:pPr algn="l"/>
            <a:r>
              <a:rPr lang="en-US" sz="2400" dirty="0">
                <a:solidFill>
                  <a:srgbClr val="0070C0"/>
                </a:solidFill>
              </a:rPr>
              <a:t>Where leaders are created</a:t>
            </a:r>
          </a:p>
        </p:txBody>
      </p:sp>
    </p:spTree>
    <p:extLst>
      <p:ext uri="{BB962C8B-B14F-4D97-AF65-F5344CB8AC3E}">
        <p14:creationId xmlns:p14="http://schemas.microsoft.com/office/powerpoint/2010/main" val="404971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74" y="7919634"/>
            <a:ext cx="2788920" cy="30996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0070C0"/>
                </a:solidFill>
              </a:defRPr>
            </a:lvl1pPr>
          </a:lstStyle>
          <a:p>
            <a:fld id="{CBE03706-832F-4E99-98D6-95C6393A057E}" type="datetime3">
              <a:rPr lang="en-US" smtClean="0"/>
              <a:t>5 January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52110" y="7919634"/>
            <a:ext cx="6636568" cy="325464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/>
              <a:t>Course Teacher: Prof. Dr. Engr. Muhibul Haque Bhuyan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41845" y="7919634"/>
            <a:ext cx="1317356" cy="2902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38"/>
            <a:ext cx="1689315" cy="64550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11256579" y="-16858"/>
            <a:ext cx="5220222" cy="463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FFFF00"/>
                </a:solidFill>
              </a:rPr>
              <a:t>Microprocessor and Embedded Systems Design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2241563" y="7635430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B2552B2-E763-405A-8E5A-B8DDC8F7B503}" type="slidenum">
              <a:rPr lang="en-US" sz="2800" smtClean="0">
                <a:solidFill>
                  <a:schemeClr val="bg1"/>
                </a:solidFill>
              </a:rPr>
              <a:t>‹#›</a:t>
            </a:fld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30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 txBox="1">
            <a:spLocks/>
          </p:cNvSpPr>
          <p:nvPr userDrawn="1"/>
        </p:nvSpPr>
        <p:spPr>
          <a:xfrm>
            <a:off x="16274" y="7919634"/>
            <a:ext cx="2788920" cy="3099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4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B6A4FC-AAA1-4F41-A17E-7BE1ED99D460}" type="datetime3">
              <a:rPr lang="en-US" smtClean="0"/>
              <a:pPr/>
              <a:t>5 January 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52110" y="7919634"/>
            <a:ext cx="6636568" cy="325464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/>
              <a:t>Course Teacher: Prof. Dr. Engr. Muhibul Haque Bhuyan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41845" y="7919634"/>
            <a:ext cx="1317356" cy="2902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38"/>
            <a:ext cx="1689315" cy="64550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11256579" y="-16858"/>
            <a:ext cx="5220222" cy="463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FFFF00"/>
                </a:solidFill>
              </a:rPr>
              <a:t>Microprocessor and Embedded Systems Design</a:t>
            </a:r>
          </a:p>
        </p:txBody>
      </p:sp>
    </p:spTree>
    <p:extLst>
      <p:ext uri="{BB962C8B-B14F-4D97-AF65-F5344CB8AC3E}">
        <p14:creationId xmlns:p14="http://schemas.microsoft.com/office/powerpoint/2010/main" val="394153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438150"/>
            <a:ext cx="1419606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2190750"/>
            <a:ext cx="1419606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7950630"/>
            <a:ext cx="5554980" cy="267212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/>
              <a:t>Course Teacher: Prof. Dr. Engr. Muhibul Haque Bhuyan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0521" y="7950630"/>
            <a:ext cx="3703320" cy="2789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C7E231E-CA56-4BC7-92DB-F0B5D1EFC190}" type="datetime3">
              <a:rPr lang="en-US" smtClean="0"/>
              <a:t>5 January 2026</a:t>
            </a:fld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401799" y="7950630"/>
            <a:ext cx="2031381" cy="278970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0070C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16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F83542-990E-4AD7-9205-9BAC0D2B3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" y="1496293"/>
            <a:ext cx="15893935" cy="2394066"/>
          </a:xfrm>
        </p:spPr>
        <p:txBody>
          <a:bodyPr anchor="t">
            <a:no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Course Capstone Project Proposal Title:</a:t>
            </a:r>
            <a:br>
              <a:rPr lang="en-US" sz="5400" b="1" dirty="0">
                <a:solidFill>
                  <a:srgbClr val="0070C0"/>
                </a:solidFill>
              </a:rPr>
            </a:br>
            <a:r>
              <a:rPr lang="en-US" sz="5400" dirty="0"/>
              <a:t>ECG‑Based Heart Rate Monitoring System</a:t>
            </a:r>
            <a:endParaRPr lang="en-US" sz="4400" b="1" dirty="0">
              <a:solidFill>
                <a:srgbClr val="0070C0"/>
              </a:solidFill>
            </a:endParaRPr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4159826" y="3501042"/>
            <a:ext cx="8305800" cy="1676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400" b="1" dirty="0">
                <a:solidFill>
                  <a:srgbClr val="00B050"/>
                </a:solidFill>
              </a:rPr>
              <a:t>Course Teacher: Protik Parvez Sheikh</a:t>
            </a:r>
          </a:p>
          <a:p>
            <a:pPr algn="ctr" eaLnBrk="1" hangingPunct="1"/>
            <a:r>
              <a:rPr lang="en-GB" altLang="en-US" sz="2000" dirty="0">
                <a:solidFill>
                  <a:srgbClr val="00B050"/>
                </a:solidFill>
              </a:rPr>
              <a:t>Assistant Professor</a:t>
            </a:r>
          </a:p>
          <a:p>
            <a:pPr algn="ctr" eaLnBrk="1" hangingPunct="1"/>
            <a:r>
              <a:rPr lang="en-GB" altLang="en-US" sz="2000" dirty="0">
                <a:solidFill>
                  <a:srgbClr val="00B050"/>
                </a:solidFill>
              </a:rPr>
              <a:t>Department of Electrical and Electronic Engineering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549064"/>
              </p:ext>
            </p:extLst>
          </p:nvPr>
        </p:nvGraphicFramePr>
        <p:xfrm>
          <a:off x="2805545" y="5020363"/>
          <a:ext cx="1084810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594">
                  <a:extLst>
                    <a:ext uri="{9D8B030D-6E8A-4147-A177-3AD203B41FA5}">
                      <a16:colId xmlns:a16="http://schemas.microsoft.com/office/drawing/2014/main" val="2913403265"/>
                    </a:ext>
                  </a:extLst>
                </a:gridCol>
                <a:gridCol w="1679798">
                  <a:extLst>
                    <a:ext uri="{9D8B030D-6E8A-4147-A177-3AD203B41FA5}">
                      <a16:colId xmlns:a16="http://schemas.microsoft.com/office/drawing/2014/main" val="241213375"/>
                    </a:ext>
                  </a:extLst>
                </a:gridCol>
                <a:gridCol w="4968815">
                  <a:extLst>
                    <a:ext uri="{9D8B030D-6E8A-4147-A177-3AD203B41FA5}">
                      <a16:colId xmlns:a16="http://schemas.microsoft.com/office/drawing/2014/main" val="1138891670"/>
                    </a:ext>
                  </a:extLst>
                </a:gridCol>
                <a:gridCol w="1637451">
                  <a:extLst>
                    <a:ext uri="{9D8B030D-6E8A-4147-A177-3AD203B41FA5}">
                      <a16:colId xmlns:a16="http://schemas.microsoft.com/office/drawing/2014/main" val="1055295908"/>
                    </a:ext>
                  </a:extLst>
                </a:gridCol>
                <a:gridCol w="1637451">
                  <a:extLst>
                    <a:ext uri="{9D8B030D-6E8A-4147-A177-3AD203B41FA5}">
                      <a16:colId xmlns:a16="http://schemas.microsoft.com/office/drawing/2014/main" val="4294604628"/>
                    </a:ext>
                  </a:extLst>
                </a:gridCol>
              </a:tblGrid>
              <a:tr h="358251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400" b="1" i="1" dirty="0">
                          <a:solidFill>
                            <a:schemeClr val="bg1"/>
                          </a:solidFill>
                        </a:rPr>
                        <a:t>SL #</a:t>
                      </a:r>
                      <a:endParaRPr lang="en-GB" altLang="en-US" sz="2400" b="1" i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400" b="1" i="1" dirty="0">
                          <a:solidFill>
                            <a:schemeClr val="bg1"/>
                          </a:solidFill>
                        </a:rPr>
                        <a:t>Students ID</a:t>
                      </a:r>
                      <a:endParaRPr lang="en-GB" altLang="en-US" sz="2400" b="1" i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400" b="1" i="1" dirty="0">
                          <a:solidFill>
                            <a:schemeClr val="bg1"/>
                          </a:solidFill>
                        </a:rPr>
                        <a:t>Students Name</a:t>
                      </a:r>
                      <a:endParaRPr lang="en-GB" altLang="en-US" sz="2400" b="1" i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bg1"/>
                          </a:solidFill>
                        </a:rPr>
                        <a:t>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bg1"/>
                          </a:solidFill>
                        </a:rPr>
                        <a:t>Section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66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23-50873-1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MUKADDAS MAHDI ULLAS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807588"/>
                  </a:ext>
                </a:extLst>
              </a:tr>
              <a:tr h="332785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23-50895-1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NABILA HOQUE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70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23-50897-1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MD. MOSTAFA HAMID YEASIB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1224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23-50944-1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REPHA TASNEYA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2590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23-52623-2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KAZI WARISA TABASSUM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5709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296077"/>
              </p:ext>
            </p:extLst>
          </p:nvPr>
        </p:nvGraphicFramePr>
        <p:xfrm>
          <a:off x="1303869" y="1105193"/>
          <a:ext cx="14715065" cy="4518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7320">
                  <a:extLst>
                    <a:ext uri="{9D8B030D-6E8A-4147-A177-3AD203B41FA5}">
                      <a16:colId xmlns:a16="http://schemas.microsoft.com/office/drawing/2014/main" val="3779552987"/>
                    </a:ext>
                  </a:extLst>
                </a:gridCol>
                <a:gridCol w="2607320">
                  <a:extLst>
                    <a:ext uri="{9D8B030D-6E8A-4147-A177-3AD203B41FA5}">
                      <a16:colId xmlns:a16="http://schemas.microsoft.com/office/drawing/2014/main" val="2030903817"/>
                    </a:ext>
                  </a:extLst>
                </a:gridCol>
                <a:gridCol w="2607320">
                  <a:extLst>
                    <a:ext uri="{9D8B030D-6E8A-4147-A177-3AD203B41FA5}">
                      <a16:colId xmlns:a16="http://schemas.microsoft.com/office/drawing/2014/main" val="1872060130"/>
                    </a:ext>
                  </a:extLst>
                </a:gridCol>
                <a:gridCol w="6893105">
                  <a:extLst>
                    <a:ext uri="{9D8B030D-6E8A-4147-A177-3AD203B41FA5}">
                      <a16:colId xmlns:a16="http://schemas.microsoft.com/office/drawing/2014/main" val="394865869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A3FF"/>
                          </a:solidFill>
                          <a:effectLst/>
                        </a:rPr>
                        <a:t>Course Code:</a:t>
                      </a:r>
                      <a:endParaRPr lang="en-US" sz="2400" dirty="0">
                        <a:solidFill>
                          <a:srgbClr val="FFA3F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1010600010101010101" pitchFamily="2" charset="0"/>
                      </a:endParaRPr>
                    </a:p>
                  </a:txBody>
                  <a:tcPr marL="8890" marR="8890" marT="8890" marB="889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A3FF"/>
                          </a:solidFill>
                          <a:effectLst/>
                        </a:rPr>
                        <a:t>EEE 4103</a:t>
                      </a:r>
                      <a:endParaRPr lang="en-US" sz="2400" dirty="0">
                        <a:solidFill>
                          <a:srgbClr val="FFA3F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1010600010101010101" pitchFamily="2" charset="0"/>
                      </a:endParaRPr>
                    </a:p>
                  </a:txBody>
                  <a:tcPr marL="8890" marR="8890" marT="8890" marB="889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A3FF"/>
                          </a:solidFill>
                          <a:effectLst/>
                        </a:rPr>
                        <a:t>Course Name:</a:t>
                      </a:r>
                      <a:endParaRPr lang="en-US" sz="2400" dirty="0">
                        <a:solidFill>
                          <a:srgbClr val="FFA3F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1010600010101010101" pitchFamily="2" charset="0"/>
                      </a:endParaRPr>
                    </a:p>
                  </a:txBody>
                  <a:tcPr marL="8890" marR="8890" marT="8890" marB="889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A3FF"/>
                          </a:solidFill>
                          <a:effectLst/>
                        </a:rPr>
                        <a:t>Microprocessor and Embedded Systems</a:t>
                      </a:r>
                      <a:endParaRPr lang="en-US" sz="2400" dirty="0">
                        <a:solidFill>
                          <a:srgbClr val="FFA3F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1010600010101010101" pitchFamily="2" charset="0"/>
                      </a:endParaRPr>
                    </a:p>
                  </a:txBody>
                  <a:tcPr marL="8890" marR="8890" marT="8890" marB="8890" anchor="ctr"/>
                </a:tc>
                <a:extLst>
                  <a:ext uri="{0D108BD9-81ED-4DB2-BD59-A6C34878D82A}">
                    <a16:rowId xmlns:a16="http://schemas.microsoft.com/office/drawing/2014/main" val="229074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96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Oval 4" descr="Parchment"/>
          <p:cNvSpPr>
            <a:spLocks noChangeArrowheads="1"/>
          </p:cNvSpPr>
          <p:nvPr/>
        </p:nvSpPr>
        <p:spPr bwMode="auto">
          <a:xfrm>
            <a:off x="1712422" y="529590"/>
            <a:ext cx="13136342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840" b="1" dirty="0">
                <a:solidFill>
                  <a:srgbClr val="0070C0"/>
                </a:solidFill>
                <a:latin typeface="Comic Sans MS" panose="030F0702030302020204" pitchFamily="66" charset="0"/>
              </a:rPr>
              <a:t>Introduction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407324" y="1591518"/>
            <a:ext cx="15644552" cy="6328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3400" b="1" dirty="0"/>
              <a:t>Aim and objection of the work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/>
              <a:t>To design</a:t>
            </a:r>
            <a:r>
              <a:rPr lang="en-US" sz="3400" dirty="0"/>
              <a:t> a low-cost ECG-based heart rate monitoring system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0000"/>
                </a:solidFill>
              </a:rPr>
              <a:t>To acquire</a:t>
            </a:r>
            <a:r>
              <a:rPr lang="en-US" sz="3400" dirty="0">
                <a:solidFill>
                  <a:srgbClr val="FF0000"/>
                </a:solidFill>
              </a:rPr>
              <a:t> real-time ECG signals using the AD8232 sensor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/>
              <a:t>To implement</a:t>
            </a:r>
            <a:r>
              <a:rPr lang="en-US" sz="3400" dirty="0"/>
              <a:t> R-peak detection for accurate BPM calculation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0000"/>
                </a:solidFill>
              </a:rPr>
              <a:t>To display</a:t>
            </a:r>
            <a:r>
              <a:rPr lang="en-US" sz="3400" dirty="0">
                <a:solidFill>
                  <a:srgbClr val="FF0000"/>
                </a:solidFill>
              </a:rPr>
              <a:t> ECG waveform and BPM on an OLED screen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/>
              <a:t>To test</a:t>
            </a:r>
            <a:r>
              <a:rPr lang="en-US" sz="3400" dirty="0"/>
              <a:t> system performance using USB and battery power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0000"/>
                </a:solidFill>
              </a:rPr>
              <a:t>To validate</a:t>
            </a:r>
            <a:r>
              <a:rPr lang="en-US" sz="3400" dirty="0">
                <a:solidFill>
                  <a:srgbClr val="FF0000"/>
                </a:solidFill>
              </a:rPr>
              <a:t> the system performance by comparing measured BPM values with expected physiological ranges.</a:t>
            </a:r>
          </a:p>
          <a:p>
            <a:pPr marL="0" indent="0"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8F342D5-AD69-27C1-C501-43B0983C7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192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val 3" descr="Parchment"/>
          <p:cNvSpPr>
            <a:spLocks noChangeArrowheads="1"/>
          </p:cNvSpPr>
          <p:nvPr/>
        </p:nvSpPr>
        <p:spPr bwMode="auto">
          <a:xfrm>
            <a:off x="1512916" y="529590"/>
            <a:ext cx="12818226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840" b="1" dirty="0">
                <a:solidFill>
                  <a:srgbClr val="0070C0"/>
                </a:solidFill>
                <a:latin typeface="Comic Sans MS" panose="030F0702030302020204" pitchFamily="66" charset="0"/>
              </a:rPr>
              <a:t>Introduction</a:t>
            </a: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432261" y="2286000"/>
            <a:ext cx="15677803" cy="5746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3600" b="1" dirty="0"/>
              <a:t>Background of Study and Motivation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ECG (Electrocardiogram)</a:t>
            </a:r>
            <a:r>
              <a:rPr lang="en-US" sz="3600" dirty="0"/>
              <a:t> monitors the electrical activity of the heart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</a:rPr>
              <a:t>Heart rate monitoring</a:t>
            </a:r>
            <a:r>
              <a:rPr lang="en-US" sz="3600" dirty="0">
                <a:solidFill>
                  <a:srgbClr val="FF0000"/>
                </a:solidFill>
              </a:rPr>
              <a:t> is crucial for early cardiac risk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Conventional ECG systems</a:t>
            </a:r>
            <a:r>
              <a:rPr lang="en-US" sz="3600" dirty="0"/>
              <a:t> are expensive and non-portable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</a:rPr>
              <a:t>Embedded technology</a:t>
            </a:r>
            <a:r>
              <a:rPr lang="en-US" sz="3600" dirty="0">
                <a:solidFill>
                  <a:srgbClr val="FF0000"/>
                </a:solidFill>
              </a:rPr>
              <a:t> enables low-cost and compact medical devices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Growing need</a:t>
            </a:r>
            <a:r>
              <a:rPr lang="en-US" sz="3600" dirty="0"/>
              <a:t> for real-time, accessible cardiac monitoring solutions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27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5F2E8-EAD8-28FC-585C-19D5A623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val 3" descr="Parchment">
            <a:extLst>
              <a:ext uri="{FF2B5EF4-FFF2-40B4-BE49-F238E27FC236}">
                <a16:creationId xmlns:a16="http://schemas.microsoft.com/office/drawing/2014/main" id="{E3AF68BF-9B9C-17CE-33BF-B02B6775D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916" y="529590"/>
            <a:ext cx="12818226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840" b="1" dirty="0">
                <a:solidFill>
                  <a:srgbClr val="0070C0"/>
                </a:solidFill>
                <a:latin typeface="Comic Sans MS" panose="030F0702030302020204" pitchFamily="66" charset="0"/>
              </a:rPr>
              <a:t>Introduction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6DA586C5-2B07-E9E2-9750-0252B341A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709" y="2172804"/>
            <a:ext cx="15677803" cy="5746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3600" b="1" dirty="0"/>
              <a:t>Brief Outline of the Presentation</a:t>
            </a:r>
          </a:p>
          <a:p>
            <a:endParaRPr lang="en-US" sz="36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Introduction and motivation of the proposed project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0000"/>
                </a:solidFill>
              </a:rPr>
              <a:t>Review of related works and recent research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Methodology and system working principle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0000"/>
                </a:solidFill>
              </a:rPr>
              <a:t>Hardware implementation and experimental setup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Results analysis and performance discussion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0000"/>
                </a:solidFill>
              </a:rPr>
              <a:t>Cost analysis, limitations, and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4ABA1E-84FF-5D6E-322A-2434D2B6D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40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val 3" descr="Parchment"/>
          <p:cNvSpPr>
            <a:spLocks noChangeArrowheads="1"/>
          </p:cNvSpPr>
          <p:nvPr/>
        </p:nvSpPr>
        <p:spPr bwMode="auto">
          <a:xfrm>
            <a:off x="1512916" y="529590"/>
            <a:ext cx="12818226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840" b="1" dirty="0">
                <a:solidFill>
                  <a:srgbClr val="0070C0"/>
                </a:solidFill>
                <a:latin typeface="Comic Sans MS" panose="030F0702030302020204" pitchFamily="66" charset="0"/>
              </a:rPr>
              <a:t>Literature Review</a:t>
            </a: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432261" y="2133600"/>
            <a:ext cx="15677803" cy="5786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800" b="1" dirty="0"/>
              <a:t>Previous Works on ECG-Based Heart Rate Monitoring</a:t>
            </a:r>
          </a:p>
          <a:p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Khan et al.</a:t>
            </a:r>
            <a:r>
              <a:rPr lang="en-US" sz="2800" dirty="0"/>
              <a:t> developed an ECG monitoring system using AD8232 and Arduino for basic heart rate measurement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Smith et al.</a:t>
            </a:r>
            <a:r>
              <a:rPr lang="en-US" sz="2800" dirty="0"/>
              <a:t> implemented ECG signal acquisition with microcontroller-based display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Patel et al.</a:t>
            </a:r>
            <a:r>
              <a:rPr lang="en-US" sz="2800" dirty="0"/>
              <a:t> proposed a wearable ECG monitoring device focusing on portability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Rahman et al.</a:t>
            </a:r>
            <a:r>
              <a:rPr lang="en-US" sz="2800" dirty="0"/>
              <a:t> used low-cost sensors for real-time ECG visualization and BPM calculation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/>
              <a:t>Common Achievements:</a:t>
            </a: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Successful ECG signal acquisition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Basic R-peak detection and BPM calculation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Low-cost and educational implementations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762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1F21A-37DD-646F-A9BA-BC4D9531B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val 3" descr="Parchment">
            <a:extLst>
              <a:ext uri="{FF2B5EF4-FFF2-40B4-BE49-F238E27FC236}">
                <a16:creationId xmlns:a16="http://schemas.microsoft.com/office/drawing/2014/main" id="{802A1850-DB1E-16AE-93A1-C7C91E126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916" y="529590"/>
            <a:ext cx="12818226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840" b="1" dirty="0">
                <a:solidFill>
                  <a:srgbClr val="0070C0"/>
                </a:solidFill>
                <a:latin typeface="Comic Sans MS" panose="030F0702030302020204" pitchFamily="66" charset="0"/>
              </a:rPr>
              <a:t>Literature Review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5614BA2-45A9-06E6-B857-8A1DFC346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84" y="1913976"/>
            <a:ext cx="15677803" cy="5786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800" b="1" dirty="0"/>
              <a:t>Research Gaps and Contribution of This Work</a:t>
            </a:r>
          </a:p>
          <a:p>
            <a:endParaRPr lang="en-US" sz="2800" b="1" dirty="0"/>
          </a:p>
          <a:p>
            <a:r>
              <a:rPr lang="en-US" sz="2800" b="1" dirty="0"/>
              <a:t>Identified Gaps in Previous Studies: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Limited focus on </a:t>
            </a:r>
            <a:r>
              <a:rPr lang="en-US" sz="2800" b="1" dirty="0">
                <a:solidFill>
                  <a:srgbClr val="FF0000"/>
                </a:solidFill>
              </a:rPr>
              <a:t>real-time waveform visualization with BPM together</a:t>
            </a:r>
            <a:endParaRPr lang="en-US" sz="2800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Poor noise handling and unstable signal display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Lack of </a:t>
            </a:r>
            <a:r>
              <a:rPr lang="en-US" sz="2800" b="1" dirty="0">
                <a:solidFill>
                  <a:srgbClr val="FF0000"/>
                </a:solidFill>
              </a:rPr>
              <a:t>clear experimental validation</a:t>
            </a:r>
            <a:endParaRPr lang="en-US" sz="2800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Limited discussion on </a:t>
            </a:r>
            <a:r>
              <a:rPr lang="en-US" sz="2800" b="1" dirty="0"/>
              <a:t>power flexibility (USB vs battery)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/>
              <a:t>Improvements in the Proposed Work:</a:t>
            </a:r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Simultaneous real-time ECG waveform and BPM display on OLED</a:t>
            </a:r>
          </a:p>
          <a:p>
            <a:r>
              <a:rPr lang="en-US" sz="2800" dirty="0"/>
              <a:t>Stable operation using </a:t>
            </a:r>
            <a:r>
              <a:rPr lang="en-US" sz="2800" b="1" dirty="0"/>
              <a:t>USB and battery power supply</a:t>
            </a:r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Simple, compact, and cost-effective hardware design</a:t>
            </a:r>
          </a:p>
          <a:p>
            <a:r>
              <a:rPr lang="en-US" sz="2800" dirty="0"/>
              <a:t>Suitable for </a:t>
            </a:r>
            <a:r>
              <a:rPr lang="en-US" sz="2800" b="1" dirty="0"/>
              <a:t>educational and preliminary health monitoring applications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557664-1740-0119-33FA-D2E122E4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43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324196" y="1598946"/>
            <a:ext cx="15810807" cy="6422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864" rIns="54864"/>
          <a:lstStyle>
            <a:lvl1pPr marL="182563" indent="-1825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/>
              <a:t>Working Principle of the Proposed Project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The system </a:t>
            </a:r>
            <a:r>
              <a:rPr lang="en-US" sz="2600" b="1" dirty="0"/>
              <a:t>continuously senses the electrical impulses of the heart</a:t>
            </a:r>
            <a:endParaRPr lang="en-US" sz="26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0000"/>
                </a:solidFill>
              </a:rPr>
              <a:t>The </a:t>
            </a:r>
            <a:r>
              <a:rPr lang="en-US" sz="2600" b="1" dirty="0">
                <a:solidFill>
                  <a:srgbClr val="FF0000"/>
                </a:solidFill>
              </a:rPr>
              <a:t>ECG sensor detects voltage changes</a:t>
            </a:r>
            <a:r>
              <a:rPr lang="en-US" sz="2600" dirty="0">
                <a:solidFill>
                  <a:srgbClr val="FF0000"/>
                </a:solidFill>
              </a:rPr>
              <a:t> produced during each cardiac cycle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These signals are </a:t>
            </a:r>
            <a:r>
              <a:rPr lang="en-US" sz="2600" b="1" dirty="0"/>
              <a:t>converted into analog ECG signals</a:t>
            </a:r>
            <a:endParaRPr lang="en-US" sz="26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0000"/>
                </a:solidFill>
              </a:rPr>
              <a:t>The </a:t>
            </a:r>
            <a:r>
              <a:rPr lang="en-US" sz="2600" b="1" dirty="0">
                <a:solidFill>
                  <a:srgbClr val="FF0000"/>
                </a:solidFill>
              </a:rPr>
              <a:t>Arduino reads and processes the ECG signal</a:t>
            </a:r>
            <a:endParaRPr lang="en-US" sz="2600" dirty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A </a:t>
            </a:r>
            <a:r>
              <a:rPr lang="en-US" sz="2600" b="1" dirty="0"/>
              <a:t>threshold‑based method detects each heartbeat (R‑peaks)</a:t>
            </a:r>
            <a:endParaRPr lang="en-US" sz="26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</a:rPr>
              <a:t>Heart Rate (BPM) = 60,000 ÷ time between two R‑peaks (</a:t>
            </a:r>
            <a:r>
              <a:rPr lang="en-US" sz="2600" b="1" dirty="0" err="1">
                <a:solidFill>
                  <a:srgbClr val="FF0000"/>
                </a:solidFill>
              </a:rPr>
              <a:t>ms</a:t>
            </a:r>
            <a:r>
              <a:rPr lang="en-US" sz="2600" b="1" dirty="0">
                <a:solidFill>
                  <a:srgbClr val="FF0000"/>
                </a:solidFill>
              </a:rPr>
              <a:t>)</a:t>
            </a:r>
            <a:endParaRPr lang="en-US" sz="2600" dirty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The </a:t>
            </a:r>
            <a:r>
              <a:rPr lang="en-US" sz="2600" b="1" dirty="0"/>
              <a:t>calculated BPM is displayed on the OLED screen</a:t>
            </a:r>
            <a:endParaRPr lang="en-US" sz="26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0000"/>
                </a:solidFill>
              </a:rPr>
              <a:t>A </a:t>
            </a:r>
            <a:r>
              <a:rPr lang="en-US" sz="2600" b="1" dirty="0">
                <a:solidFill>
                  <a:srgbClr val="FF0000"/>
                </a:solidFill>
              </a:rPr>
              <a:t>dynamic ECG waveform is also shown in real time</a:t>
            </a:r>
            <a:endParaRPr lang="en-US" sz="2600" dirty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This allows </a:t>
            </a:r>
            <a:r>
              <a:rPr lang="en-US" sz="2600" b="1" dirty="0"/>
              <a:t>continuous real‑time heart‑monitoring</a:t>
            </a:r>
            <a:endParaRPr lang="en-US" sz="2600" dirty="0"/>
          </a:p>
        </p:txBody>
      </p:sp>
      <p:sp>
        <p:nvSpPr>
          <p:cNvPr id="19459" name="Oval 3" descr="Parchment"/>
          <p:cNvSpPr>
            <a:spLocks noChangeArrowheads="1"/>
          </p:cNvSpPr>
          <p:nvPr/>
        </p:nvSpPr>
        <p:spPr bwMode="auto">
          <a:xfrm>
            <a:off x="1165256" y="529590"/>
            <a:ext cx="14214764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320" b="1" dirty="0">
                <a:solidFill>
                  <a:srgbClr val="0070C0"/>
                </a:solidFill>
                <a:latin typeface="Comic Sans MS" panose="030F0702030302020204" pitchFamily="66" charset="0"/>
              </a:rPr>
              <a:t>Methodology and Modeling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1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90945" y="1787225"/>
            <a:ext cx="16168255" cy="6063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864" rIns="54864"/>
          <a:lstStyle>
            <a:lvl1pPr marL="182563" indent="-1825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/>
              <a:t>Process of Work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Signal Acquisition</a:t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The AD8232 ECG sensor is connected to the Arduino to capture the analog ECG signal from the body.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Signal Processing</a:t>
            </a:r>
            <a:br>
              <a:rPr lang="en-US" sz="2400" dirty="0"/>
            </a:br>
            <a:r>
              <a:rPr lang="en-US" sz="2400" dirty="0"/>
              <a:t>The Arduino detects R‑peaks using a threshold‑based algorithm and calculates the heart rate (BPM) from the time difference between consecutive beats.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Data Visualization</a:t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The BPM is displayed numerically on the OLED screen, while the ECG waveform is shown in real‑time for visual observation.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Continuous Monitoring</a:t>
            </a:r>
            <a:br>
              <a:rPr lang="en-US" sz="2400" dirty="0"/>
            </a:br>
            <a:r>
              <a:rPr lang="en-US" sz="2400" dirty="0"/>
              <a:t>The system continuously updates both the BPM and ECG waveform to reflect real‑time heart activity.</a:t>
            </a:r>
          </a:p>
        </p:txBody>
      </p:sp>
      <p:sp>
        <p:nvSpPr>
          <p:cNvPr id="20483" name="Oval 3" descr="Parchment"/>
          <p:cNvSpPr>
            <a:spLocks noChangeArrowheads="1"/>
          </p:cNvSpPr>
          <p:nvPr/>
        </p:nvSpPr>
        <p:spPr bwMode="auto">
          <a:xfrm>
            <a:off x="631767" y="529590"/>
            <a:ext cx="15561425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800" b="1" dirty="0">
                <a:solidFill>
                  <a:srgbClr val="0070C0"/>
                </a:solidFill>
                <a:latin typeface="Comic Sans MS" panose="030F0702030302020204" pitchFamily="66" charset="0"/>
              </a:rPr>
              <a:t>Methodology and Modeling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091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C9C91-563E-3F2A-A994-D46C3FCD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BDFC248-AD1E-732B-072B-FE5C8ED71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45" y="1787225"/>
            <a:ext cx="16168255" cy="6063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864" rIns="54864"/>
          <a:lstStyle>
            <a:lvl1pPr marL="182563" indent="-1825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/>
              <a:t>Process of Work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Signal Acquisition</a:t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The AD8232 ECG sensor is connected to the Arduino to capture the analog ECG signal from the body.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Signal Processing</a:t>
            </a:r>
            <a:br>
              <a:rPr lang="en-US" sz="2400" dirty="0"/>
            </a:br>
            <a:r>
              <a:rPr lang="en-US" sz="2400" dirty="0"/>
              <a:t>The Arduino detects R‑peaks using a threshold‑based algorithm and calculates the heart rate (BPM) from the time difference between consecutive beats.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Data Visualization</a:t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The BPM is displayed numerically on the OLED screen, while the ECG waveform is shown in real‑time for visual observation.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Continuous Monitoring</a:t>
            </a:r>
            <a:br>
              <a:rPr lang="en-US" sz="2400" dirty="0"/>
            </a:br>
            <a:r>
              <a:rPr lang="en-US" sz="2400" dirty="0"/>
              <a:t>The system continuously updates both the BPM and ECG waveform to reflect real‑time heart activity.</a:t>
            </a:r>
          </a:p>
        </p:txBody>
      </p:sp>
      <p:sp>
        <p:nvSpPr>
          <p:cNvPr id="20483" name="Oval 3" descr="Parchment">
            <a:extLst>
              <a:ext uri="{FF2B5EF4-FFF2-40B4-BE49-F238E27FC236}">
                <a16:creationId xmlns:a16="http://schemas.microsoft.com/office/drawing/2014/main" id="{37D68176-1B1C-ADD6-C9D9-28E928CC8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767" y="529590"/>
            <a:ext cx="15561425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800" b="1" dirty="0">
                <a:solidFill>
                  <a:srgbClr val="0070C0"/>
                </a:solidFill>
                <a:latin typeface="Comic Sans MS" panose="030F0702030302020204" pitchFamily="66" charset="0"/>
              </a:rPr>
              <a:t>Methodology and Modeling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D70A25-167E-139F-6DBC-5D861EDD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34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E46E6-7EB6-C8B6-48B5-3C194360A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26E99C0-CDB1-E8FD-50E2-AAE27D5FC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45" y="1787225"/>
            <a:ext cx="16168255" cy="6063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864" rIns="54864"/>
          <a:lstStyle>
            <a:lvl1pPr marL="182563" indent="-1825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/>
              <a:t>Description of the Components</a:t>
            </a:r>
          </a:p>
          <a:p>
            <a:pPr>
              <a:lnSpc>
                <a:spcPct val="150000"/>
              </a:lnSpc>
            </a:pPr>
            <a:endParaRPr lang="en-US" sz="2800" b="1" dirty="0"/>
          </a:p>
        </p:txBody>
      </p:sp>
      <p:sp>
        <p:nvSpPr>
          <p:cNvPr id="20483" name="Oval 3" descr="Parchment">
            <a:extLst>
              <a:ext uri="{FF2B5EF4-FFF2-40B4-BE49-F238E27FC236}">
                <a16:creationId xmlns:a16="http://schemas.microsoft.com/office/drawing/2014/main" id="{40CA52EA-3C7F-9D3F-8FE8-D60192044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767" y="529590"/>
            <a:ext cx="15561425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800" b="1" dirty="0">
                <a:solidFill>
                  <a:srgbClr val="0070C0"/>
                </a:solidFill>
                <a:latin typeface="Comic Sans MS" panose="030F0702030302020204" pitchFamily="66" charset="0"/>
              </a:rPr>
              <a:t>Methodology and Modeling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3A23C5-81D1-DB9D-1430-F9160069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9A6C5B-8D4B-CAF5-8CA6-2A742521F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933815"/>
              </p:ext>
            </p:extLst>
          </p:nvPr>
        </p:nvGraphicFramePr>
        <p:xfrm>
          <a:off x="393540" y="2372810"/>
          <a:ext cx="15475350" cy="56746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196987">
                  <a:extLst>
                    <a:ext uri="{9D8B030D-6E8A-4147-A177-3AD203B41FA5}">
                      <a16:colId xmlns:a16="http://schemas.microsoft.com/office/drawing/2014/main" val="3613527550"/>
                    </a:ext>
                  </a:extLst>
                </a:gridCol>
                <a:gridCol w="9278363">
                  <a:extLst>
                    <a:ext uri="{9D8B030D-6E8A-4147-A177-3AD203B41FA5}">
                      <a16:colId xmlns:a16="http://schemas.microsoft.com/office/drawing/2014/main" val="2078400070"/>
                    </a:ext>
                  </a:extLst>
                </a:gridCol>
              </a:tblGrid>
              <a:tr h="80022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  <a:buNone/>
                      </a:pPr>
                      <a:r>
                        <a:rPr lang="en-US" sz="2600" spc="-20" dirty="0">
                          <a:effectLst/>
                        </a:rPr>
                        <a:t>Component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  <a:buNone/>
                      </a:pPr>
                      <a:r>
                        <a:rPr lang="en-US" sz="2600" spc="-20">
                          <a:effectLst/>
                        </a:rPr>
                        <a:t>Function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30802497"/>
                  </a:ext>
                </a:extLst>
              </a:tr>
              <a:tr h="800222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buNone/>
                      </a:pPr>
                      <a:r>
                        <a:rPr lang="en-US" sz="2600" spc="-20">
                          <a:effectLst/>
                        </a:rPr>
                        <a:t>ECG Sensor (AD8232)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  <a:buNone/>
                      </a:pPr>
                      <a:r>
                        <a:rPr lang="en-US" sz="2600" spc="-20">
                          <a:effectLst/>
                        </a:rPr>
                        <a:t>Captures electrical signals from the heart and outputs corresponding analog voltages for cardiac cycles.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7999014"/>
                  </a:ext>
                </a:extLst>
              </a:tr>
              <a:tr h="80022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  <a:buNone/>
                      </a:pPr>
                      <a:r>
                        <a:rPr lang="en-US" sz="2600" spc="-20">
                          <a:effectLst/>
                        </a:rPr>
                        <a:t>Arduino Microcontroller (Uno/Nano)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  <a:buNone/>
                      </a:pPr>
                      <a:r>
                        <a:rPr lang="en-US" sz="2600" spc="-20" dirty="0">
                          <a:effectLst/>
                        </a:rPr>
                        <a:t>Reads analog ECG signals, detects heartbeats using threshold-based logic, calculates BPM, and sends data to the OLED display.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4937663"/>
                  </a:ext>
                </a:extLst>
              </a:tr>
              <a:tr h="800222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buNone/>
                      </a:pPr>
                      <a:r>
                        <a:rPr lang="en-US" sz="2600" spc="-20">
                          <a:effectLst/>
                        </a:rPr>
                        <a:t>OLED Display (128×64)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  <a:buNone/>
                      </a:pPr>
                      <a:r>
                        <a:rPr lang="en-US" sz="2600" spc="-20">
                          <a:effectLst/>
                        </a:rPr>
                        <a:t>Displays the real-time heart rate (BPM) numerically and visualizes the ECG waveform dynamically.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74214079"/>
                  </a:ext>
                </a:extLst>
              </a:tr>
              <a:tr h="80022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  <a:buNone/>
                      </a:pPr>
                      <a:r>
                        <a:rPr lang="en-US" sz="2600" spc="-20">
                          <a:effectLst/>
                        </a:rPr>
                        <a:t>Resistors &amp; Wires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  <a:buNone/>
                      </a:pPr>
                      <a:r>
                        <a:rPr lang="en-US" sz="2600" spc="-20">
                          <a:effectLst/>
                        </a:rPr>
                        <a:t>Ensure proper electrical connections, signal stability, and reliable operation of the circuit.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2121397"/>
                  </a:ext>
                </a:extLst>
              </a:tr>
              <a:tr h="1545713"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buNone/>
                      </a:pPr>
                      <a:r>
                        <a:rPr lang="en-US" sz="2600" spc="-20">
                          <a:effectLst/>
                        </a:rPr>
                        <a:t>Power Supply (Laptop USB, 5 V)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  <a:buNone/>
                      </a:pPr>
                      <a:r>
                        <a:rPr lang="en-US" sz="2600" spc="-20" dirty="0">
                          <a:effectLst/>
                        </a:rPr>
                        <a:t>Provides stable 5 V DC to the Arduino and ECG sensor, eliminating the need for an external adapter or battery while enabling serial monitoring and data logging.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04303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0275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val 3" descr="Parchment"/>
          <p:cNvSpPr>
            <a:spLocks noChangeArrowheads="1"/>
          </p:cNvSpPr>
          <p:nvPr/>
        </p:nvSpPr>
        <p:spPr bwMode="auto">
          <a:xfrm>
            <a:off x="1762298" y="529590"/>
            <a:ext cx="11953702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 dirty="0">
                <a:solidFill>
                  <a:srgbClr val="0070C0"/>
                </a:solidFill>
                <a:latin typeface="Comic Sans MS" panose="030F0702030302020204" pitchFamily="66" charset="0"/>
              </a:rPr>
              <a:t>Methodology and Modeling</a:t>
            </a: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232756" y="2427316"/>
            <a:ext cx="9539041" cy="5492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The Arduino is connected to the </a:t>
            </a:r>
            <a:r>
              <a:rPr lang="en-US" sz="2800" b="1" dirty="0">
                <a:solidFill>
                  <a:srgbClr val="FF0000"/>
                </a:solidFill>
              </a:rPr>
              <a:t>AD8232 ECG sensor and OLED display</a:t>
            </a:r>
            <a:r>
              <a:rPr lang="en-US" sz="2800" dirty="0">
                <a:solidFill>
                  <a:srgbClr val="FF0000"/>
                </a:solidFill>
              </a:rPr>
              <a:t> on a breadboard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ECG </a:t>
            </a:r>
            <a:r>
              <a:rPr lang="en-US" sz="2800" b="1" dirty="0"/>
              <a:t>electrodes are attached to standard limb positions</a:t>
            </a:r>
            <a:r>
              <a:rPr lang="en-US" sz="2800" dirty="0"/>
              <a:t> for signal acquisition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Serial Monitor / Plotter</a:t>
            </a:r>
            <a:r>
              <a:rPr lang="en-US" sz="2800" dirty="0">
                <a:solidFill>
                  <a:srgbClr val="FF0000"/>
                </a:solidFill>
              </a:rPr>
              <a:t> is used to verify ECG waveform and BPM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 </a:t>
            </a:r>
            <a:r>
              <a:rPr lang="en-US" sz="2800" b="1" dirty="0"/>
              <a:t>OLED displays both the ECG waveform and BPM value in real time</a:t>
            </a:r>
            <a:endParaRPr lang="en-US" sz="2800" dirty="0"/>
          </a:p>
        </p:txBody>
      </p:sp>
      <p:sp>
        <p:nvSpPr>
          <p:cNvPr id="18436" name="Text Box 29"/>
          <p:cNvSpPr txBox="1">
            <a:spLocks noChangeArrowheads="1"/>
          </p:cNvSpPr>
          <p:nvPr/>
        </p:nvSpPr>
        <p:spPr bwMode="auto">
          <a:xfrm>
            <a:off x="9977432" y="6862686"/>
            <a:ext cx="605960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FF1919"/>
                </a:solidFill>
              </a:rPr>
              <a:t>Figure 1: Block diagram of the system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 descr="A diagram of a heart rate monitor&#10;&#10;AI-generated content may be incorrect.">
            <a:extLst>
              <a:ext uri="{FF2B5EF4-FFF2-40B4-BE49-F238E27FC236}">
                <a16:creationId xmlns:a16="http://schemas.microsoft.com/office/drawing/2014/main" id="{44498C3D-28CD-4667-1D7D-31092B15F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026" y="2570407"/>
            <a:ext cx="6438418" cy="4292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C6F7CB-CA99-4ADA-35D7-4F09A0B948B4}"/>
              </a:ext>
            </a:extLst>
          </p:cNvPr>
          <p:cNvSpPr txBox="1"/>
          <p:nvPr/>
        </p:nvSpPr>
        <p:spPr>
          <a:xfrm>
            <a:off x="616352" y="1755465"/>
            <a:ext cx="827011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/>
              <a:t>Experimental Setup</a:t>
            </a:r>
          </a:p>
        </p:txBody>
      </p:sp>
    </p:spTree>
    <p:extLst>
      <p:ext uri="{BB962C8B-B14F-4D97-AF65-F5344CB8AC3E}">
        <p14:creationId xmlns:p14="http://schemas.microsoft.com/office/powerpoint/2010/main" val="137250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9A587-8DCB-B6B0-4C06-1AF37D38D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val 3" descr="Parchment">
            <a:extLst>
              <a:ext uri="{FF2B5EF4-FFF2-40B4-BE49-F238E27FC236}">
                <a16:creationId xmlns:a16="http://schemas.microsoft.com/office/drawing/2014/main" id="{C7FD23CC-41A1-1670-FC2E-695DD4AF7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298" y="529590"/>
            <a:ext cx="11953702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 dirty="0">
                <a:solidFill>
                  <a:srgbClr val="0070C0"/>
                </a:solidFill>
                <a:latin typeface="Comic Sans MS" panose="030F0702030302020204" pitchFamily="66" charset="0"/>
              </a:rPr>
              <a:t>Methodology and Modeling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04DA2F33-A222-0FA9-3236-2D99A5BB9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56" y="2004906"/>
            <a:ext cx="9555270" cy="5914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ECG waveform on the OLED appears as a </a:t>
            </a:r>
            <a:r>
              <a:rPr lang="en-US" sz="2800" b="1" dirty="0"/>
              <a:t>scrolling signal</a:t>
            </a:r>
            <a:endParaRPr lang="en-US" sz="2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BPM updates continuously</a:t>
            </a:r>
            <a:r>
              <a:rPr lang="en-US" sz="2800" dirty="0">
                <a:solidFill>
                  <a:srgbClr val="FF0000"/>
                </a:solidFill>
              </a:rPr>
              <a:t> with every detected heartbeat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Adjustable threshold values</a:t>
            </a:r>
            <a:r>
              <a:rPr lang="en-US" sz="2800" dirty="0"/>
              <a:t> help ensure accurate beat detection for different users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The setup is </a:t>
            </a:r>
            <a:r>
              <a:rPr lang="en-US" sz="2800" b="1" dirty="0">
                <a:solidFill>
                  <a:srgbClr val="FF0000"/>
                </a:solidFill>
              </a:rPr>
              <a:t>low‑cost, compact, and portable</a:t>
            </a:r>
            <a:endParaRPr lang="en-US" sz="28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Suitable for </a:t>
            </a:r>
            <a:r>
              <a:rPr lang="en-US" sz="2800" b="1" dirty="0"/>
              <a:t>educational, experimental, and basic heart‑monitoring purposes</a:t>
            </a:r>
            <a:endParaRPr lang="en-US" sz="2800" dirty="0"/>
          </a:p>
        </p:txBody>
      </p:sp>
      <p:sp>
        <p:nvSpPr>
          <p:cNvPr id="18436" name="Text Box 29">
            <a:extLst>
              <a:ext uri="{FF2B5EF4-FFF2-40B4-BE49-F238E27FC236}">
                <a16:creationId xmlns:a16="http://schemas.microsoft.com/office/drawing/2014/main" id="{63A70F56-9D02-FABF-82ED-755D93B67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3812" y="6974004"/>
            <a:ext cx="605960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FF1919"/>
                </a:solidFill>
              </a:rPr>
              <a:t>Figure 1: Block diagram of the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F25043-720E-55EF-1B80-48B9DBFA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 descr="A diagram of a heart rate monitor&#10;&#10;AI-generated content may be incorrect.">
            <a:extLst>
              <a:ext uri="{FF2B5EF4-FFF2-40B4-BE49-F238E27FC236}">
                <a16:creationId xmlns:a16="http://schemas.microsoft.com/office/drawing/2014/main" id="{93B852ED-A8AF-FF47-151C-7DDCB17E3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026" y="2570407"/>
            <a:ext cx="6438418" cy="429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16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EF7B-525B-1664-5922-F63ABD776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val 3" descr="Parchment">
            <a:extLst>
              <a:ext uri="{FF2B5EF4-FFF2-40B4-BE49-F238E27FC236}">
                <a16:creationId xmlns:a16="http://schemas.microsoft.com/office/drawing/2014/main" id="{4DD9260D-3D92-F8DC-7153-9E1EEE64E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298" y="529590"/>
            <a:ext cx="11953702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 dirty="0">
                <a:solidFill>
                  <a:srgbClr val="0070C0"/>
                </a:solidFill>
                <a:latin typeface="Comic Sans MS" panose="030F0702030302020204" pitchFamily="66" charset="0"/>
              </a:rPr>
              <a:t>Methodology and Modeling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7BE05ECB-22C1-47CC-8381-FBF43EA14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56" y="2004906"/>
            <a:ext cx="9084864" cy="5914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The AD8232 ECG sensor, Arduino Nano, and OLED display were connected on a breadboard according to the circuit diagram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Electrodes were attached to the body to collect ECG signals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Arduino IDE was used to program the microcontroller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program reads the ECG signal, detects R‑peaks, and calculates BPM</a:t>
            </a:r>
          </a:p>
        </p:txBody>
      </p:sp>
      <p:sp>
        <p:nvSpPr>
          <p:cNvPr id="18436" name="Text Box 29">
            <a:extLst>
              <a:ext uri="{FF2B5EF4-FFF2-40B4-BE49-F238E27FC236}">
                <a16:creationId xmlns:a16="http://schemas.microsoft.com/office/drawing/2014/main" id="{6200EF36-585F-73F4-1198-D43283A60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6568" y="6595698"/>
            <a:ext cx="661409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/>
              <a:t>Figure 2- Heart Rate Monitoring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F8485F-6BAC-8004-2DBB-90E2DC4D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4" descr="A circuit board with wires&#10;&#10;AI-generated content may be incorrect.">
            <a:extLst>
              <a:ext uri="{FF2B5EF4-FFF2-40B4-BE49-F238E27FC236}">
                <a16:creationId xmlns:a16="http://schemas.microsoft.com/office/drawing/2014/main" id="{355D7235-B749-867E-6C1E-1D71F851C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569" y="2289873"/>
            <a:ext cx="6614091" cy="421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41EC9-F684-81A4-AF8D-B387CA6C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val 3" descr="Parchment">
            <a:extLst>
              <a:ext uri="{FF2B5EF4-FFF2-40B4-BE49-F238E27FC236}">
                <a16:creationId xmlns:a16="http://schemas.microsoft.com/office/drawing/2014/main" id="{588731C3-3FC5-D4C6-D38D-6FD5E0D1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298" y="529590"/>
            <a:ext cx="11953702" cy="118872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 dirty="0">
                <a:solidFill>
                  <a:srgbClr val="0070C0"/>
                </a:solidFill>
                <a:latin typeface="Comic Sans MS" panose="030F0702030302020204" pitchFamily="66" charset="0"/>
              </a:rPr>
              <a:t>Methodology and Modeling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BD76065-FF6E-C5F5-92C4-70C801C75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56" y="2004906"/>
            <a:ext cx="9084864" cy="5914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BPM value is displayed on the OLED screen in real‑time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The ECG waveform is also shown live on the Serial Plotter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Threshold and timing values were adjusted to improve accuracy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The system was tested repeatedly to ensure stable operation</a:t>
            </a:r>
          </a:p>
        </p:txBody>
      </p:sp>
      <p:sp>
        <p:nvSpPr>
          <p:cNvPr id="18436" name="Text Box 29">
            <a:extLst>
              <a:ext uri="{FF2B5EF4-FFF2-40B4-BE49-F238E27FC236}">
                <a16:creationId xmlns:a16="http://schemas.microsoft.com/office/drawing/2014/main" id="{088920A7-9350-9486-9FC0-A041128E7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6568" y="6595698"/>
            <a:ext cx="661409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/>
              <a:t>Figure 2- Heart Rate Monitoring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CDA525-4224-9207-EB99-FA5B532E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 descr="A circuit board with wires&#10;&#10;AI-generated content may be incorrect.">
            <a:extLst>
              <a:ext uri="{FF2B5EF4-FFF2-40B4-BE49-F238E27FC236}">
                <a16:creationId xmlns:a16="http://schemas.microsoft.com/office/drawing/2014/main" id="{8407EF56-58DC-B1C1-B1BD-FA9558D0F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569" y="2289873"/>
            <a:ext cx="6614091" cy="421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07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222713" y="7528087"/>
            <a:ext cx="8189768" cy="454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22532" name="Oval 3" descr="Parchment"/>
          <p:cNvSpPr>
            <a:spLocks noChangeArrowheads="1"/>
          </p:cNvSpPr>
          <p:nvPr/>
        </p:nvSpPr>
        <p:spPr bwMode="auto">
          <a:xfrm>
            <a:off x="1895302" y="529590"/>
            <a:ext cx="13582996" cy="982587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600" b="1" dirty="0">
                <a:solidFill>
                  <a:srgbClr val="0070C0"/>
                </a:solidFill>
                <a:latin typeface="Comic Sans MS" panose="030F0702030302020204" pitchFamily="66" charset="0"/>
              </a:rPr>
              <a:t>Results and Discussions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0142202" y="4826529"/>
            <a:ext cx="4538073" cy="729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ctr" eaLnBrk="1" hangingPunct="1">
              <a:lnSpc>
                <a:spcPct val="80000"/>
              </a:lnSpc>
            </a:pPr>
            <a:endParaRPr lang="en-US" altLang="en-US" sz="2400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9963E-4D89-E160-845F-8AF1C8F8AC8E}"/>
              </a:ext>
            </a:extLst>
          </p:cNvPr>
          <p:cNvSpPr txBox="1"/>
          <p:nvPr/>
        </p:nvSpPr>
        <p:spPr>
          <a:xfrm>
            <a:off x="627927" y="1574157"/>
            <a:ext cx="8270110" cy="713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system successfully measured </a:t>
            </a:r>
            <a:r>
              <a:rPr lang="en-US" sz="2800" b="1" dirty="0"/>
              <a:t>real‑time ECG signals and heart rate (BPM)</a:t>
            </a:r>
            <a:r>
              <a:rPr lang="en-US" sz="2800" dirty="0"/>
              <a:t> for different subjects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The </a:t>
            </a:r>
            <a:r>
              <a:rPr lang="en-US" sz="2800" b="1" dirty="0">
                <a:solidFill>
                  <a:srgbClr val="FF0000"/>
                </a:solidFill>
              </a:rPr>
              <a:t>OLED display showed numerical BPM values</a:t>
            </a:r>
            <a:r>
              <a:rPr lang="en-US" sz="2800" dirty="0">
                <a:solidFill>
                  <a:srgbClr val="FF0000"/>
                </a:solidFill>
              </a:rPr>
              <a:t>, updated every second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 </a:t>
            </a:r>
            <a:r>
              <a:rPr lang="en-US" sz="2800" b="1" dirty="0"/>
              <a:t>dynamic ECG waveform was displayed</a:t>
            </a:r>
            <a:r>
              <a:rPr lang="en-US" sz="2800" dirty="0"/>
              <a:t>, clearly showing the </a:t>
            </a:r>
            <a:r>
              <a:rPr lang="en-US" sz="2800" b="1" dirty="0"/>
              <a:t>PQRST pattern</a:t>
            </a:r>
            <a:r>
              <a:rPr lang="en-US" sz="2800" dirty="0"/>
              <a:t> with visible heartbeat peaks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BPM values ranged from 55 to 160 BPM</a:t>
            </a:r>
            <a:r>
              <a:rPr lang="en-US" sz="2800" dirty="0">
                <a:solidFill>
                  <a:srgbClr val="FF0000"/>
                </a:solidFill>
              </a:rPr>
              <a:t>, depending on the subject’s activity level and heart‑rate variation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B95BD-01BB-4FDA-D97D-D29A0C5BA2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037" y="2242293"/>
            <a:ext cx="7239306" cy="4778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5862E-2D64-208B-4D07-35D8B49A23D2}"/>
              </a:ext>
            </a:extLst>
          </p:cNvPr>
          <p:cNvSpPr txBox="1"/>
          <p:nvPr/>
        </p:nvSpPr>
        <p:spPr>
          <a:xfrm>
            <a:off x="10223340" y="7020301"/>
            <a:ext cx="475430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300" b="1" dirty="0"/>
              <a:t>Figure 3- Heart Rate Monitoring System</a:t>
            </a:r>
          </a:p>
        </p:txBody>
      </p:sp>
    </p:spTree>
    <p:extLst>
      <p:ext uri="{BB962C8B-B14F-4D97-AF65-F5344CB8AC3E}">
        <p14:creationId xmlns:p14="http://schemas.microsoft.com/office/powerpoint/2010/main" val="2935707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B98C1-3FC7-8078-F254-67D2CCA68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E35186B-5405-04BC-703E-0A1C64457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13" y="7528087"/>
            <a:ext cx="8189768" cy="454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22532" name="Oval 3" descr="Parchment">
            <a:extLst>
              <a:ext uri="{FF2B5EF4-FFF2-40B4-BE49-F238E27FC236}">
                <a16:creationId xmlns:a16="http://schemas.microsoft.com/office/drawing/2014/main" id="{A3785D2D-6BEE-7AB6-B9D4-E839767C9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302" y="529590"/>
            <a:ext cx="13582996" cy="982587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600" b="1" dirty="0">
                <a:solidFill>
                  <a:srgbClr val="0070C0"/>
                </a:solidFill>
                <a:latin typeface="Comic Sans MS" panose="030F0702030302020204" pitchFamily="66" charset="0"/>
              </a:rPr>
              <a:t>Results and Discussions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D9958A-22A5-2A75-A436-F49AE631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5005CB1-5965-911C-BD1D-BA43D7C46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2202" y="4826529"/>
            <a:ext cx="4538073" cy="729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ctr" eaLnBrk="1" hangingPunct="1">
              <a:lnSpc>
                <a:spcPct val="80000"/>
              </a:lnSpc>
            </a:pPr>
            <a:endParaRPr lang="en-US" altLang="en-US" sz="2400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1D77F-4B5C-F05A-3DC9-6CEE62C4F5AD}"/>
              </a:ext>
            </a:extLst>
          </p:cNvPr>
          <p:cNvSpPr txBox="1"/>
          <p:nvPr/>
        </p:nvSpPr>
        <p:spPr>
          <a:xfrm>
            <a:off x="535329" y="2864289"/>
            <a:ext cx="827011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ECG waveform closely matched the analog ECG signal, showing </a:t>
            </a:r>
            <a:r>
              <a:rPr lang="en-US" sz="2800" b="1" dirty="0"/>
              <a:t>good responsiveness and reliability</a:t>
            </a: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Serial Monitor/Plotter was used to validate BPM calculations</a:t>
            </a:r>
            <a:r>
              <a:rPr lang="en-US" sz="2800" dirty="0">
                <a:solidFill>
                  <a:srgbClr val="FF0000"/>
                </a:solidFill>
              </a:rPr>
              <a:t> using the measured RR‑intervals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221F5-0D88-8018-3BF2-E3604076E1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037" y="2242293"/>
            <a:ext cx="7239306" cy="4778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43F967-F70E-E5F0-FB09-71B203671CEE}"/>
              </a:ext>
            </a:extLst>
          </p:cNvPr>
          <p:cNvSpPr txBox="1"/>
          <p:nvPr/>
        </p:nvSpPr>
        <p:spPr>
          <a:xfrm>
            <a:off x="10223340" y="7020301"/>
            <a:ext cx="475430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300" b="1" dirty="0"/>
              <a:t>Figure 3- Heart Rate Monitoring System</a:t>
            </a:r>
          </a:p>
        </p:txBody>
      </p:sp>
    </p:spTree>
    <p:extLst>
      <p:ext uri="{BB962C8B-B14F-4D97-AF65-F5344CB8AC3E}">
        <p14:creationId xmlns:p14="http://schemas.microsoft.com/office/powerpoint/2010/main" val="3126431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C06F1-BEC7-4397-6B2A-3946A2479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C430526-7623-1EF9-6555-CA0F00AB7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13" y="7528087"/>
            <a:ext cx="8189768" cy="454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22532" name="Oval 3" descr="Parchment">
            <a:extLst>
              <a:ext uri="{FF2B5EF4-FFF2-40B4-BE49-F238E27FC236}">
                <a16:creationId xmlns:a16="http://schemas.microsoft.com/office/drawing/2014/main" id="{C5544301-C68B-7BC1-E870-6FE9B3B8F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302" y="529590"/>
            <a:ext cx="13582996" cy="982587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600" b="1" dirty="0">
                <a:solidFill>
                  <a:srgbClr val="0070C0"/>
                </a:solidFill>
                <a:latin typeface="Comic Sans MS" panose="030F0702030302020204" pitchFamily="66" charset="0"/>
              </a:rPr>
              <a:t>Results and Discussions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0D6BDD-9F0D-488B-02E6-7098F0F7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03BED69-080A-FAD2-943A-A51574731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2202" y="4826529"/>
            <a:ext cx="4538073" cy="729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ctr" eaLnBrk="1" hangingPunct="1">
              <a:lnSpc>
                <a:spcPct val="80000"/>
              </a:lnSpc>
            </a:pPr>
            <a:endParaRPr lang="en-US" altLang="en-US" sz="2400" dirty="0">
              <a:solidFill>
                <a:srgbClr val="0070C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14CA0D-825B-64BF-53C9-6E135C69D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479952"/>
              </p:ext>
            </p:extLst>
          </p:nvPr>
        </p:nvGraphicFramePr>
        <p:xfrm>
          <a:off x="583333" y="2271483"/>
          <a:ext cx="10655685" cy="46224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00303">
                  <a:extLst>
                    <a:ext uri="{9D8B030D-6E8A-4147-A177-3AD203B41FA5}">
                      <a16:colId xmlns:a16="http://schemas.microsoft.com/office/drawing/2014/main" val="3648781586"/>
                    </a:ext>
                  </a:extLst>
                </a:gridCol>
                <a:gridCol w="3755382">
                  <a:extLst>
                    <a:ext uri="{9D8B030D-6E8A-4147-A177-3AD203B41FA5}">
                      <a16:colId xmlns:a16="http://schemas.microsoft.com/office/drawing/2014/main" val="2139237797"/>
                    </a:ext>
                  </a:extLst>
                </a:gridCol>
              </a:tblGrid>
              <a:tr h="826147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800" dirty="0">
                          <a:effectLst/>
                        </a:rPr>
                        <a:t>Component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800">
                          <a:effectLst/>
                        </a:rPr>
                        <a:t>Approximate Cost (BDT)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47645986"/>
                  </a:ext>
                </a:extLst>
              </a:tr>
              <a:tr h="48226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800">
                          <a:effectLst/>
                        </a:rPr>
                        <a:t>Arduino Nano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800">
                          <a:effectLst/>
                        </a:rPr>
                        <a:t>420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93479087"/>
                  </a:ext>
                </a:extLst>
              </a:tr>
              <a:tr h="943912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800">
                          <a:effectLst/>
                        </a:rPr>
                        <a:t>AD8232 ECG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2800">
                          <a:effectLst/>
                        </a:rPr>
                        <a:t> Sensor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800">
                          <a:effectLst/>
                        </a:rPr>
                        <a:t>750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9178375"/>
                  </a:ext>
                </a:extLst>
              </a:tr>
              <a:tr h="943912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800">
                          <a:effectLst/>
                        </a:rPr>
                        <a:t>OLED Display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2800">
                          <a:effectLst/>
                        </a:rPr>
                        <a:t>(128×64)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800">
                          <a:effectLst/>
                        </a:rPr>
                        <a:t>300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52468664"/>
                  </a:ext>
                </a:extLst>
              </a:tr>
              <a:tr h="48226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800">
                          <a:effectLst/>
                        </a:rPr>
                        <a:t> Wires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800">
                          <a:effectLst/>
                        </a:rPr>
                        <a:t>20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23069654"/>
                  </a:ext>
                </a:extLst>
              </a:tr>
              <a:tr h="943912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800" dirty="0">
                          <a:effectLst/>
                        </a:rPr>
                        <a:t>Power Supply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2800" dirty="0">
                          <a:effectLst/>
                        </a:rPr>
                        <a:t>(Laptop USB)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36906887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A7A7E6B2-F36C-C08A-25D9-ED01FB028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67" y="6893889"/>
            <a:ext cx="65290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Total Estimated Cost: 1490 BDT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040F82-2D1C-66E1-827B-F74E8208CA94}"/>
              </a:ext>
            </a:extLst>
          </p:cNvPr>
          <p:cNvSpPr txBox="1"/>
          <p:nvPr/>
        </p:nvSpPr>
        <p:spPr>
          <a:xfrm>
            <a:off x="583333" y="1692774"/>
            <a:ext cx="3653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Cost Analysis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51346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6F2B6-3BC6-9ADF-46CF-56F1B699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C041AE5-CA23-5E13-4B8A-849CCE788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13" y="7528087"/>
            <a:ext cx="8189768" cy="454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22532" name="Oval 3" descr="Parchment">
            <a:extLst>
              <a:ext uri="{FF2B5EF4-FFF2-40B4-BE49-F238E27FC236}">
                <a16:creationId xmlns:a16="http://schemas.microsoft.com/office/drawing/2014/main" id="{938F4D66-78F4-B13C-4129-D764F4302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302" y="529590"/>
            <a:ext cx="13582996" cy="982587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3600" b="1" dirty="0">
                <a:solidFill>
                  <a:srgbClr val="0070C0"/>
                </a:solidFill>
                <a:latin typeface="Comic Sans MS" panose="030F0702030302020204" pitchFamily="66" charset="0"/>
              </a:rPr>
              <a:t>Results and Discussions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0B39DC-B78D-71ED-99FF-11EA45169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6C9EFD5-699A-C509-86A2-716CF1A5A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2202" y="4826529"/>
            <a:ext cx="4538073" cy="729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ctr" eaLnBrk="1" hangingPunct="1">
              <a:lnSpc>
                <a:spcPct val="80000"/>
              </a:lnSpc>
            </a:pPr>
            <a:endParaRPr lang="en-US" altLang="en-US" sz="2400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EF920-898A-11D4-5C42-9E234DC3C9B7}"/>
              </a:ext>
            </a:extLst>
          </p:cNvPr>
          <p:cNvSpPr txBox="1"/>
          <p:nvPr/>
        </p:nvSpPr>
        <p:spPr>
          <a:xfrm>
            <a:off x="512180" y="1853582"/>
            <a:ext cx="15171516" cy="5647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buNone/>
            </a:pPr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Limitations in the Project</a:t>
            </a:r>
          </a:p>
          <a:p>
            <a:pPr marL="342900" marR="0" lvl="0" indent="-342900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28575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system is not suitable for clinical diagnosis; it is intended for experimental and educational purposes only.</a:t>
            </a:r>
          </a:p>
          <a:p>
            <a:pPr marL="342900" marR="0" lvl="0" indent="-342900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285750" algn="l"/>
              </a:tabLs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ECG signal quality can be affected by electromagnetic interference, electrode placement, and movement artifacts.</a:t>
            </a:r>
          </a:p>
          <a:p>
            <a:pPr marL="342900" marR="0" lvl="0" indent="-342900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28575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BPM detection algorithm may miss irregular or very rapid heartbeats due to the threshold-based method.</a:t>
            </a:r>
          </a:p>
          <a:p>
            <a:pPr marL="342900" marR="0" lvl="0" indent="-342900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285750" algn="l"/>
              </a:tabLst>
            </a:pPr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OLED display size limits the waveform resolution and the number of data points visible at a time.</a:t>
            </a:r>
          </a:p>
          <a:p>
            <a:pPr marL="342900" marR="0" lvl="0" indent="-342900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28575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wireless or remote monitoring capability is included in this version.</a:t>
            </a:r>
          </a:p>
        </p:txBody>
      </p:sp>
    </p:spTree>
    <p:extLst>
      <p:ext uri="{BB962C8B-B14F-4D97-AF65-F5344CB8AC3E}">
        <p14:creationId xmlns:p14="http://schemas.microsoft.com/office/powerpoint/2010/main" val="1934578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Oval 3" descr="Parchment"/>
          <p:cNvSpPr>
            <a:spLocks noChangeArrowheads="1"/>
          </p:cNvSpPr>
          <p:nvPr/>
        </p:nvSpPr>
        <p:spPr bwMode="auto">
          <a:xfrm>
            <a:off x="1995055" y="529590"/>
            <a:ext cx="11222181" cy="866948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 dirty="0">
                <a:solidFill>
                  <a:srgbClr val="0070C0"/>
                </a:solidFill>
                <a:latin typeface="Comic Sans MS" panose="030F0702030302020204" pitchFamily="66" charset="0"/>
              </a:rPr>
              <a:t>Conclusions and Future Endeavor </a:t>
            </a:r>
          </a:p>
        </p:txBody>
      </p:sp>
      <p:sp>
        <p:nvSpPr>
          <p:cNvPr id="23555" name="Text Box 6"/>
          <p:cNvSpPr txBox="1">
            <a:spLocks noChangeArrowheads="1"/>
          </p:cNvSpPr>
          <p:nvPr/>
        </p:nvSpPr>
        <p:spPr bwMode="auto">
          <a:xfrm>
            <a:off x="374072" y="1396538"/>
            <a:ext cx="14939233" cy="669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Conclusion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project successfully developed a </a:t>
            </a:r>
            <a:r>
              <a:rPr lang="en-US" sz="2200" b="1" dirty="0"/>
              <a:t>real‑time ECG‑based heart‑rate monitoring system</a:t>
            </a:r>
            <a:r>
              <a:rPr lang="en-US" sz="2200" dirty="0"/>
              <a:t> using the AD8232 sensor and Arduino Nano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The system was able to </a:t>
            </a:r>
            <a:r>
              <a:rPr lang="en-US" sz="2200" b="1" dirty="0">
                <a:solidFill>
                  <a:srgbClr val="FF0000"/>
                </a:solidFill>
              </a:rPr>
              <a:t>measure ECG signals and calculate BPM accurately under normal conditions</a:t>
            </a:r>
            <a:endParaRPr lang="en-US" sz="22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BPM was displayed on the OLED screen</a:t>
            </a:r>
            <a:r>
              <a:rPr lang="en-US" sz="2200" dirty="0"/>
              <a:t>, and the </a:t>
            </a:r>
            <a:r>
              <a:rPr lang="en-US" sz="2200" b="1" dirty="0"/>
              <a:t>ECG waveform was visualized in real time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The device is </a:t>
            </a:r>
            <a:r>
              <a:rPr lang="en-US" sz="2200" b="1" dirty="0">
                <a:solidFill>
                  <a:srgbClr val="FF0000"/>
                </a:solidFill>
              </a:rPr>
              <a:t>low‑cost, compact, and suitable for educational and experimental use</a:t>
            </a:r>
            <a:endParaRPr lang="en-US" sz="22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Testing showed that the system works best when the subject is relaxed and electrodes are properly attached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b="1" dirty="0"/>
              <a:t>Future Endeavors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Improve </a:t>
            </a:r>
            <a:r>
              <a:rPr lang="en-US" sz="2200" b="1" dirty="0"/>
              <a:t>signal filtering</a:t>
            </a:r>
            <a:r>
              <a:rPr lang="en-US" sz="2200" dirty="0"/>
              <a:t> to reduce motion noise and interference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Develop a </a:t>
            </a:r>
            <a:r>
              <a:rPr lang="en-US" sz="2200" b="1" dirty="0">
                <a:solidFill>
                  <a:srgbClr val="FF0000"/>
                </a:solidFill>
              </a:rPr>
              <a:t>wearable version</a:t>
            </a:r>
            <a:r>
              <a:rPr lang="en-US" sz="2200" dirty="0">
                <a:solidFill>
                  <a:srgbClr val="FF0000"/>
                </a:solidFill>
              </a:rPr>
              <a:t> for more comfortable long‑term monitoring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Add </a:t>
            </a:r>
            <a:r>
              <a:rPr lang="en-US" sz="2200" b="1" dirty="0"/>
              <a:t>Bluetooth / Wi‑Fi connectivity</a:t>
            </a:r>
            <a:r>
              <a:rPr lang="en-US" sz="2200" dirty="0"/>
              <a:t> for mobile or cloud monitoring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Include </a:t>
            </a:r>
            <a:r>
              <a:rPr lang="en-US" sz="2200" b="1" dirty="0">
                <a:solidFill>
                  <a:srgbClr val="FF0000"/>
                </a:solidFill>
              </a:rPr>
              <a:t>data logging</a:t>
            </a:r>
            <a:r>
              <a:rPr lang="en-US" sz="2200" dirty="0">
                <a:solidFill>
                  <a:srgbClr val="FF0000"/>
                </a:solidFill>
              </a:rPr>
              <a:t> for storing ECG and BPM history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Design a </a:t>
            </a:r>
            <a:r>
              <a:rPr lang="en-US" sz="2200" b="1" dirty="0"/>
              <a:t>protective enclosure</a:t>
            </a:r>
            <a:r>
              <a:rPr lang="en-US" sz="2200" dirty="0"/>
              <a:t> for better portability and safety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en-US" sz="1000" dirty="0">
              <a:solidFill>
                <a:srgbClr val="0000D6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593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A982A-E949-8CDF-002D-64B92D02B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Oval 3" descr="Parchment">
            <a:extLst>
              <a:ext uri="{FF2B5EF4-FFF2-40B4-BE49-F238E27FC236}">
                <a16:creationId xmlns:a16="http://schemas.microsoft.com/office/drawing/2014/main" id="{604C04D8-10F2-BBE5-9198-7C21F135F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055" y="529590"/>
            <a:ext cx="11222181" cy="866948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 dirty="0" err="1">
                <a:solidFill>
                  <a:srgbClr val="0070C0"/>
                </a:solidFill>
                <a:latin typeface="Comic Sans MS" panose="030F0702030302020204" pitchFamily="66" charset="0"/>
              </a:rPr>
              <a:t>Raferences</a:t>
            </a:r>
            <a:r>
              <a:rPr lang="en-US" altLang="en-US" sz="4000" b="1" dirty="0">
                <a:solidFill>
                  <a:srgbClr val="0070C0"/>
                </a:solidFill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23555" name="Text Box 6">
            <a:extLst>
              <a:ext uri="{FF2B5EF4-FFF2-40B4-BE49-F238E27FC236}">
                <a16:creationId xmlns:a16="http://schemas.microsoft.com/office/drawing/2014/main" id="{B7B9C1AF-33B1-8057-82A9-E13B95543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73" y="1709825"/>
            <a:ext cx="14649866" cy="4816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[1] </a:t>
            </a:r>
            <a:r>
              <a:rPr lang="en-US" b="1" dirty="0"/>
              <a:t>Analog Devices, Inc.</a:t>
            </a:r>
            <a:r>
              <a:rPr lang="en-US" dirty="0"/>
              <a:t>, “AD8232: Heart Rate Monitor Front End — Datasheet,” 2023.</a:t>
            </a:r>
          </a:p>
          <a:p>
            <a:pPr>
              <a:lnSpc>
                <a:spcPct val="150000"/>
              </a:lnSpc>
            </a:pPr>
            <a:r>
              <a:rPr lang="en-US" dirty="0"/>
              <a:t>[2] </a:t>
            </a:r>
            <a:r>
              <a:rPr lang="en-US" b="1" dirty="0"/>
              <a:t>G. Rajender, S. Mubeen, and E. Parvathi</a:t>
            </a:r>
            <a:r>
              <a:rPr lang="en-US" dirty="0"/>
              <a:t>, “Development of an Arduino‑based ECG monitoring system using the AD8232 sensor,” </a:t>
            </a:r>
            <a:r>
              <a:rPr lang="en-US" i="1" dirty="0"/>
              <a:t>International Journal of Biomedical Engineering and Technology</a:t>
            </a:r>
            <a:r>
              <a:rPr lang="en-US" dirty="0"/>
              <a:t>, vol. 35, no. 2, pp. 145–154, 2021.</a:t>
            </a:r>
          </a:p>
          <a:p>
            <a:pPr>
              <a:lnSpc>
                <a:spcPct val="150000"/>
              </a:lnSpc>
            </a:pPr>
            <a:r>
              <a:rPr lang="en-US" dirty="0"/>
              <a:t>[3] </a:t>
            </a:r>
            <a:r>
              <a:rPr lang="en-US" b="1" dirty="0"/>
              <a:t>K. Mounika, R. Reddy, and P. Kumar</a:t>
            </a:r>
            <a:r>
              <a:rPr lang="en-US" dirty="0"/>
              <a:t>, “IoT‑based real‑time ECG monitoring system using AD8232 and ESP32,” </a:t>
            </a:r>
            <a:r>
              <a:rPr lang="en-US" i="1" dirty="0"/>
              <a:t>International Journal of Electronics and Communication Engineering</a:t>
            </a:r>
            <a:r>
              <a:rPr lang="en-US" dirty="0"/>
              <a:t>, vol. 14, no. 3, pp. 55–62, 2022.</a:t>
            </a:r>
          </a:p>
          <a:p>
            <a:pPr>
              <a:lnSpc>
                <a:spcPct val="150000"/>
              </a:lnSpc>
            </a:pPr>
            <a:r>
              <a:rPr lang="en-US" dirty="0"/>
              <a:t>[4] </a:t>
            </a:r>
            <a:r>
              <a:rPr lang="en-US" b="1" dirty="0"/>
              <a:t>L. Chen and Y. Zhang</a:t>
            </a:r>
            <a:r>
              <a:rPr lang="en-US" dirty="0"/>
              <a:t>, “Wearable ECG monitoring systems for continuous health tracking,” </a:t>
            </a:r>
            <a:r>
              <a:rPr lang="en-US" i="1" dirty="0"/>
              <a:t>Biomedical Signal Processing and Control</a:t>
            </a:r>
            <a:r>
              <a:rPr lang="en-US" dirty="0"/>
              <a:t>, vol. 76, pp. 1–10, 2022.</a:t>
            </a:r>
          </a:p>
          <a:p>
            <a:pPr>
              <a:lnSpc>
                <a:spcPct val="150000"/>
              </a:lnSpc>
            </a:pPr>
            <a:r>
              <a:rPr lang="en-US" dirty="0"/>
              <a:t>[5] </a:t>
            </a:r>
            <a:r>
              <a:rPr lang="en-US" b="1" dirty="0"/>
              <a:t>M. </a:t>
            </a:r>
            <a:r>
              <a:rPr lang="en-US" b="1" dirty="0" err="1"/>
              <a:t>Ehnesh</a:t>
            </a:r>
            <a:r>
              <a:rPr lang="en-US" b="1" dirty="0"/>
              <a:t>, A. Darvishi, and H. Jafari</a:t>
            </a:r>
            <a:r>
              <a:rPr lang="en-US" dirty="0"/>
              <a:t>, “Design and implementation of a portable ECG monitoring device,” </a:t>
            </a:r>
            <a:r>
              <a:rPr lang="en-US" i="1" dirty="0"/>
              <a:t>SN Applied Sciences</a:t>
            </a:r>
            <a:r>
              <a:rPr lang="en-US" dirty="0"/>
              <a:t>, vol. 2, no. 9, pp. 1–8, 2020.</a:t>
            </a:r>
          </a:p>
          <a:p>
            <a:pPr>
              <a:lnSpc>
                <a:spcPct val="150000"/>
              </a:lnSpc>
            </a:pPr>
            <a:r>
              <a:rPr lang="en-US" dirty="0"/>
              <a:t>[6] </a:t>
            </a:r>
            <a:r>
              <a:rPr lang="en-US" b="1" dirty="0"/>
              <a:t>Arduino</a:t>
            </a:r>
            <a:r>
              <a:rPr lang="en-US" dirty="0"/>
              <a:t>, “Arduino Nano Technical Specifications,” available online: https://www.arduino.cc/ </a:t>
            </a:r>
            <a:r>
              <a:rPr lang="en-US" i="1" dirty="0"/>
              <a:t>(Accessed: Jan. 4, 2026).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[7] </a:t>
            </a:r>
            <a:r>
              <a:rPr lang="en-US" b="1" dirty="0"/>
              <a:t>Adafruit Industries</a:t>
            </a:r>
            <a:r>
              <a:rPr lang="en-US" dirty="0"/>
              <a:t>, “SSD1306 OLED Display Datasheet and Guide,” available online: https://learn.adafruit.com/ </a:t>
            </a:r>
            <a:r>
              <a:rPr lang="en-US" i="1" dirty="0"/>
              <a:t>(Accessed: Jan. 4, 2026).</a:t>
            </a:r>
            <a:endParaRPr lang="en-US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en-US" sz="1000" dirty="0">
              <a:solidFill>
                <a:srgbClr val="0000D6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56E2CE-9912-8747-C088-33C862CF5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111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99652-6805-4BCB-82F2-65ABD02EC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734" y="459817"/>
            <a:ext cx="13142422" cy="1191665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solidFill>
                  <a:srgbClr val="0070C0"/>
                </a:solidFill>
              </a:rPr>
              <a:t>Thanks for listening our presentation….</a:t>
            </a: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7398325" y="2015067"/>
            <a:ext cx="6724076" cy="5532886"/>
            <a:chOff x="432" y="1584"/>
            <a:chExt cx="3072" cy="2426"/>
          </a:xfrm>
        </p:grpSpPr>
        <p:sp>
          <p:nvSpPr>
            <p:cNvPr id="6" name="AutoShape 3"/>
            <p:cNvSpPr>
              <a:spLocks noChangeArrowheads="1"/>
            </p:cNvSpPr>
            <p:nvPr/>
          </p:nvSpPr>
          <p:spPr bwMode="auto">
            <a:xfrm>
              <a:off x="1296" y="1584"/>
              <a:ext cx="2208" cy="816"/>
            </a:xfrm>
            <a:prstGeom prst="cloudCallout">
              <a:avLst>
                <a:gd name="adj1" fmla="val -41574"/>
                <a:gd name="adj2" fmla="val 140565"/>
              </a:avLst>
            </a:prstGeom>
            <a:solidFill>
              <a:schemeClr val="accent3"/>
            </a:solidFill>
            <a:ln w="952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altLang="en-US" sz="2800"/>
            </a:p>
          </p:txBody>
        </p:sp>
        <p:pic>
          <p:nvPicPr>
            <p:cNvPr id="7" name="Picture 4" descr="j030125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3024"/>
              <a:ext cx="1153" cy="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WordArt 5"/>
            <p:cNvSpPr>
              <a:spLocks noChangeArrowheads="1" noChangeShapeType="1" noTextEdit="1"/>
            </p:cNvSpPr>
            <p:nvPr/>
          </p:nvSpPr>
          <p:spPr bwMode="auto">
            <a:xfrm>
              <a:off x="2208" y="1728"/>
              <a:ext cx="421" cy="61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5520" kern="10" dirty="0">
                  <a:ln w="9525">
                    <a:solidFill>
                      <a:schemeClr val="accent5">
                        <a:lumMod val="75000"/>
                      </a:schemeClr>
                    </a:solidFill>
                    <a:round/>
                    <a:headEnd/>
                    <a:tailEnd/>
                  </a:ln>
                  <a:solidFill>
                    <a:srgbClr val="00B050"/>
                  </a:solidFill>
                  <a:latin typeface="Arial Black"/>
                </a:rPr>
                <a:t>?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5E484-204C-41CF-AA8E-AE5C26E05CE2}" type="datetime3">
              <a:rPr lang="en-US" smtClean="0"/>
              <a:t>5 January 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753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D8D8B33143B1468E1C9AFFA0D31C96" ma:contentTypeVersion="10" ma:contentTypeDescription="Create a new document." ma:contentTypeScope="" ma:versionID="bbb0d83e40533a49a60bdec258b465f0">
  <xsd:schema xmlns:xsd="http://www.w3.org/2001/XMLSchema" xmlns:xs="http://www.w3.org/2001/XMLSchema" xmlns:p="http://schemas.microsoft.com/office/2006/metadata/properties" xmlns:ns2="a9ae1250-d84d-4766-92f4-e9274e46fec9" xmlns:ns3="9f673192-3ebd-46cf-81e4-b0fc52a2734b" targetNamespace="http://schemas.microsoft.com/office/2006/metadata/properties" ma:root="true" ma:fieldsID="5bcb84e5db712ee3512e2c7202801eba" ns2:_="" ns3:_="">
    <xsd:import namespace="a9ae1250-d84d-4766-92f4-e9274e46fec9"/>
    <xsd:import namespace="9f673192-3ebd-46cf-81e4-b0fc52a273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e1250-d84d-4766-92f4-e9274e46fe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c387e96-56ce-4293-9bf0-c5d3fd96f7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73192-3ebd-46cf-81e4-b0fc52a2734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97aefea-15dc-4d1a-acd2-cf953a18d6bf}" ma:internalName="TaxCatchAll" ma:showField="CatchAllData" ma:web="9f673192-3ebd-46cf-81e4-b0fc52a273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ae1250-d84d-4766-92f4-e9274e46fec9">
      <Terms xmlns="http://schemas.microsoft.com/office/infopath/2007/PartnerControls"/>
    </lcf76f155ced4ddcb4097134ff3c332f>
    <TaxCatchAll xmlns="9f673192-3ebd-46cf-81e4-b0fc52a2734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2A8CAB-79B4-4528-9C29-85EEC029D1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ae1250-d84d-4766-92f4-e9274e46fec9"/>
    <ds:schemaRef ds:uri="9f673192-3ebd-46cf-81e4-b0fc52a273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58E20A-3CCF-4936-A030-6C75490658A6}">
  <ds:schemaRefs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  <ds:schemaRef ds:uri="f05aa4fc-6785-42fa-879e-4fefad1725f6"/>
    <ds:schemaRef ds:uri="http://schemas.microsoft.com/office/2006/metadata/properties"/>
    <ds:schemaRef ds:uri="b8d4537a-75fc-4c95-93ca-a321653b0576"/>
    <ds:schemaRef ds:uri="05cbef25-41ae-40f8-a41b-d8773b93d88d"/>
    <ds:schemaRef ds:uri="b9f894d8-f8e2-4a96-9176-bd69f127f274"/>
    <ds:schemaRef ds:uri="22ca2055-02e5-46b2-8c23-a3a6996b2dc2"/>
    <ds:schemaRef ds:uri="cf7415a2-fa68-4c62-95f2-21d2b367fa03"/>
    <ds:schemaRef ds:uri="a9ae1250-d84d-4766-92f4-e9274e46fec9"/>
    <ds:schemaRef ds:uri="9f673192-3ebd-46cf-81e4-b0fc52a2734b"/>
  </ds:schemaRefs>
</ds:datastoreItem>
</file>

<file path=customXml/itemProps3.xml><?xml version="1.0" encoding="utf-8"?>
<ds:datastoreItem xmlns:ds="http://schemas.openxmlformats.org/officeDocument/2006/customXml" ds:itemID="{96A4027F-3D24-4D53-BFC9-3C8233FBA0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8094</TotalTime>
  <Words>1811</Words>
  <Application>Microsoft Office PowerPoint</Application>
  <PresentationFormat>Custom</PresentationFormat>
  <Paragraphs>233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Comic Sans MS</vt:lpstr>
      <vt:lpstr>Symbol</vt:lpstr>
      <vt:lpstr>Times New Roman</vt:lpstr>
      <vt:lpstr>Office Theme</vt:lpstr>
      <vt:lpstr>Course Capstone Project Proposal Title: ECG‑Based Heart Rate Monitoring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for listening our presentation….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Jahid Hasan</dc:creator>
  <cp:lastModifiedBy>MUKADDAS MAHDI ULLAS</cp:lastModifiedBy>
  <cp:revision>448</cp:revision>
  <dcterms:created xsi:type="dcterms:W3CDTF">2017-01-20T15:00:05Z</dcterms:created>
  <dcterms:modified xsi:type="dcterms:W3CDTF">2026-01-04T18:49:53Z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0x0101003AD8D8B33143B1468E1C9AFFA0D31C96</vt:lpwstr>
  </property>
</Properties>
</file>